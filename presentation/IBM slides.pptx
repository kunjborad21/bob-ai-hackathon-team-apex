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slide. PharmaGuard AI — IBM Bob AI Hackathon prototype. Two-module pharmacovigilance platform built entirely with IBM Bob as the AI development partner.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two core problems: (1) pharmacovigilance signal detection is a manual, slow process across millions of drug-event pairs — no automated clustering, no auto-generated explanations. (2) ICH M4 CTD completeness validation is 100% manual — 74 sections, discovered gaps late in the timeline. Both cause significant regulatory risk and cost.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solution: two modules. Module 1 automates signal detection using PRR (Evans criteria), K-Means clustering, and AI-generated explainability narratives. Module 2 automates CTD completeness checking against the full 74-section ICH M4 schema, with severity-ordered gap reports and per-section recommendations. 62 tests, all passing.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Architecture: decoupled React frontend proxies to FastAPI backend. Five analytical engines behind two router groups (/api/signals and /api/dossier). Key highlights: PRR with Evans criteria, K-Means AE clustering, 74-section ICH M4 schema, per-signal plain-English explainability. All data loaded from JSON files — no database dependency.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IBM Bob integration: Bob acted as the co-engineer on every part of the project. Architecture, all backend engine code, all tests, all frontend components, all documentation. The workflow was iterative — prompt, review, refine — and Bob also performed self-review on its own code, checking edge cases and formula correctness before each engine was wired into the API.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Impact roadmap: today's prototype proves the algorithmic and UX approach on synthetic data. Near-term: connect to live pharmacovigilance databases, add watsonx.ai for narrative generation, and support user-uploaded dossiers. Long-term vision: SaaS platform for pharma companies — reducing signal review time by 60%, eliminating late-stage CTD gaps, with IBM watsonx.governance providing auditability. Market is growing at 13% CAGR.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slide. Thank you. Questions welcome. Demo is available at localhost:3000 — run backend with uvicorn, frontend with npm run dev.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720000" y="1800000"/>
            <a:ext cx="10440000" cy="14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800" b="1">
                <a:solidFill>
                  <a:srgbClr val="FFFFFF"/>
                </a:solidFill>
              </a:rPr>
              <a:t>PharmaGuard AI</a:t>
            </a:r>
          </a:p>
        </p:txBody>
      </p:sp>
      <p:sp>
        <p:nvSpPr>
          <p:cNvPr id="100001" name="Subtitle"/>
          <p:cNvSpPr txBox="1"/>
          <p:nvPr/>
        </p:nvSpPr>
        <p:spPr>
          <a:xfrm>
            <a:off x="720000" y="3600000"/>
            <a:ext cx="10440000" cy="9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200">
                <a:solidFill>
                  <a:srgbClr val="A8C8F0"/>
                </a:solidFill>
              </a:rPr>
              <a:t>Drug Safety Signal Detector &amp; Regulatory Submission Readiness Checker</a:t>
            </a:r>
          </a:p>
        </p:txBody>
      </p:sp>
      <p:sp>
        <p:nvSpPr>
          <p:cNvPr id="100002" name="Tag"/>
          <p:cNvSpPr txBox="1"/>
          <p:nvPr/>
        </p:nvSpPr>
        <p:spPr>
          <a:xfrm>
            <a:off x="720000" y="5040000"/>
            <a:ext cx="10440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>
                <a:solidFill>
                  <a:srgbClr val="7FADD4"/>
                </a:solidFill>
              </a:rPr>
              <a:t>IBM Bob AI Hackathon  ·  Prototype  ·  All data is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" name="SlideNum"/>
          <p:cNvSpPr txBox="1"/>
          <p:nvPr/>
        </p:nvSpPr>
        <p:spPr>
          <a:xfrm>
            <a:off x="10800000" y="180000"/>
            <a:ext cx="720000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100">
                <a:solidFill>
                  <a:srgbClr val="A0AEC0"/>
                </a:solidFill>
              </a:rPr>
              <a:t>01</a:t>
            </a:r>
          </a:p>
        </p:txBody>
      </p:sp>
      <p:sp>
        <p:nvSpPr>
          <p:cNvPr id="100004" name="Accent"/>
          <p:cNvSpPr txBox="1"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5" name="Title"/>
          <p:cNvSpPr txBox="1"/>
          <p:nvPr/>
        </p:nvSpPr>
        <p:spPr>
          <a:xfrm>
            <a:off x="540000" y="360000"/>
            <a:ext cx="10080000" cy="648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E3A5F"/>
                </a:solidFill>
              </a:rPr>
              <a:t>The Problem</a:t>
            </a:r>
          </a:p>
        </p:txBody>
      </p:sp>
      <p:sp>
        <p:nvSpPr>
          <p:cNvPr id="100006" name="Who"/>
          <p:cNvSpPr txBox="1"/>
          <p:nvPr/>
        </p:nvSpPr>
        <p:spPr>
          <a:xfrm>
            <a:off x="540000" y="1152000"/>
            <a:ext cx="10080000" cy="360000"/>
          </a:xfrm>
          <a:prstGeom prst="rect">
            <a:avLst/>
          </a:prstGeom>
        </p:spPr>
        <p:txBody>
          <a:bodyPr/>
          <a:lstStyle/>
          <a:p>
            <a:r>
              <a:rPr lang="en-US" sz="1500" b="1">
                <a:solidFill>
                  <a:srgbClr val="2D6A9F"/>
                </a:solidFill>
              </a:rPr>
              <a:t>WHO  ·  Pharmacovigilance scientists, regulatory-affairs managers, drug-safety teams</a:t>
            </a:r>
          </a:p>
        </p:txBody>
      </p:sp>
      <p:sp>
        <p:nvSpPr>
          <p:cNvPr id="100007" name="P1head"/>
          <p:cNvSpPr txBox="1"/>
          <p:nvPr/>
        </p:nvSpPr>
        <p:spPr>
          <a:xfrm>
            <a:off x="540000" y="1620000"/>
            <a:ext cx="10080000" cy="324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1E3A5F"/>
                </a:solidFill>
              </a:rPr>
              <a:t>Problem 1 — Signal Detection Is Manual &amp; Slow</a:t>
            </a:r>
          </a:p>
        </p:txBody>
      </p:sp>
      <p:sp>
        <p:nvSpPr>
          <p:cNvPr id="100008" name="P1body"/>
          <p:cNvSpPr txBox="1"/>
          <p:nvPr/>
        </p:nvSpPr>
        <p:spPr>
          <a:xfrm>
            <a:off x="540000" y="2016000"/>
            <a:ext cx="10080000" cy="1368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</a:rPr>
              <a:t>•  FDA receives millions of AE reports annually — every drug × event pair must be tested</a:t>
            </a:r>
          </a:p>
          <a:p>
            <a:r>
              <a:rPr lang="en-US" sz="1500">
                <a:solidFill>
                  <a:srgbClr val="333333"/>
                </a:solidFill>
              </a:rPr>
              <a:t>•  Analysts hand-triage enormous PRR / ROR tables with no automated clustering</a:t>
            </a:r>
          </a:p>
          <a:p>
            <a:r>
              <a:rPr lang="en-US" sz="1500">
                <a:solidFill>
                  <a:srgbClr val="333333"/>
                </a:solidFill>
              </a:rPr>
              <a:t>•  Plain-language explanations for regulators are written manually — slow and inconsistent</a:t>
            </a:r>
          </a:p>
          <a:p>
            <a:r>
              <a:rPr lang="en-US" sz="1500">
                <a:solidFill>
                  <a:srgbClr val="333333"/>
                </a:solidFill>
              </a:rPr>
              <a:t>•  No tool links signal detection output directly to a write-up workflow</a:t>
            </a:r>
          </a:p>
        </p:txBody>
      </p:sp>
      <p:sp>
        <p:nvSpPr>
          <p:cNvPr id="100009" name="P2head"/>
          <p:cNvSpPr txBox="1"/>
          <p:nvPr/>
        </p:nvSpPr>
        <p:spPr>
          <a:xfrm>
            <a:off x="540000" y="3456000"/>
            <a:ext cx="10080000" cy="324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1E3A5F"/>
                </a:solidFill>
              </a:rPr>
              <a:t>Problem 2 — CTD Submission Readiness Has No Automated Validator</a:t>
            </a:r>
          </a:p>
        </p:txBody>
      </p:sp>
      <p:sp>
        <p:nvSpPr>
          <p:cNvPr id="100010" name="P2body"/>
          <p:cNvSpPr txBox="1"/>
          <p:nvPr/>
        </p:nvSpPr>
        <p:spPr>
          <a:xfrm>
            <a:off x="540000" y="3852000"/>
            <a:ext cx="10080000" cy="1368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</a:rPr>
              <a:t>•  ICH M4 mandates 74 required sections across 5 modules — verified entirely by hand</a:t>
            </a:r>
          </a:p>
          <a:p>
            <a:r>
              <a:rPr lang="en-US" sz="1500">
                <a:solidFill>
                  <a:srgbClr val="333333"/>
                </a:solidFill>
              </a:rPr>
              <a:t>•  Missing sections discovered late in submission timeline cause multi-week delays</a:t>
            </a:r>
          </a:p>
          <a:p>
            <a:r>
              <a:rPr lang="en-US" sz="1500">
                <a:solidFill>
                  <a:srgbClr val="333333"/>
                </a:solidFill>
              </a:rPr>
              <a:t>•  Severity prioritisation (Critical / Major / Minor) is inconsistent across teams</a:t>
            </a:r>
          </a:p>
          <a:p>
            <a:r>
              <a:rPr lang="en-US" sz="1500">
                <a:solidFill>
                  <a:srgbClr val="333333"/>
                </a:solidFill>
              </a:rPr>
              <a:t>•  No tool generates actionable, section-level recommendations for closing gaps</a:t>
            </a:r>
          </a:p>
        </p:txBody>
      </p:sp>
      <p:sp>
        <p:nvSpPr>
          <p:cNvPr id="100011" name="Impact"/>
          <p:cNvSpPr txBox="1"/>
          <p:nvPr/>
        </p:nvSpPr>
        <p:spPr>
          <a:xfrm>
            <a:off x="540000" y="5400000"/>
            <a:ext cx="1008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C0392B"/>
                </a:solidFill>
              </a:rPr>
              <a:t>WHY IT HURTS:  delays cost $1M+ per week in delayed market entry; missed signals can harm patients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" name="SlideNum"/>
          <p:cNvSpPr txBox="1"/>
          <p:nvPr/>
        </p:nvSpPr>
        <p:spPr>
          <a:xfrm>
            <a:off x="10800000" y="180000"/>
            <a:ext cx="720000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100">
                <a:solidFill>
                  <a:srgbClr val="A0AEC0"/>
                </a:solidFill>
              </a:rPr>
              <a:t>02</a:t>
            </a:r>
          </a:p>
        </p:txBody>
      </p:sp>
      <p:sp>
        <p:nvSpPr>
          <p:cNvPr id="100013" name="Accent"/>
          <p:cNvSpPr txBox="1"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US">
              <a:solidFill>
                <a:srgbClr val="1E3A5F"/>
              </a:solidFill>
            </a:endParaRPr>
          </a:p>
        </p:txBody>
      </p:sp>
      <p:sp>
        <p:nvSpPr>
          <p:cNvPr id="100014" name="Title"/>
          <p:cNvSpPr txBox="1"/>
          <p:nvPr/>
        </p:nvSpPr>
        <p:spPr>
          <a:xfrm>
            <a:off x="540000" y="360000"/>
            <a:ext cx="10080000" cy="648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E3A5F"/>
                </a:solidFill>
              </a:rPr>
              <a:t>The Solution — PharmaGuard AI</a:t>
            </a:r>
          </a:p>
        </p:txBody>
      </p:sp>
      <p:sp>
        <p:nvSpPr>
          <p:cNvPr id="100015" name="Intro"/>
          <p:cNvSpPr txBox="1"/>
          <p:nvPr/>
        </p:nvSpPr>
        <p:spPr>
          <a:xfrm>
            <a:off x="540000" y="1080000"/>
            <a:ext cx="1008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444444"/>
                </a:solidFill>
              </a:rPr>
              <a:t>A full-stack pharmacovigilance platform with two analytical modules in a single React UI, backed by a Python / FastAPI engine layer.</a:t>
            </a:r>
          </a:p>
        </p:txBody>
      </p:sp>
      <p:sp>
        <p:nvSpPr>
          <p:cNvPr id="100016" name="M1head"/>
          <p:cNvSpPr txBox="1"/>
          <p:nvPr/>
        </p:nvSpPr>
        <p:spPr>
          <a:xfrm>
            <a:off x="540000" y="1620000"/>
            <a:ext cx="4860000" cy="324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1E3A5F"/>
                </a:solidFill>
              </a:rPr>
              <a:t>Module 1 — Signal Detection</a:t>
            </a:r>
          </a:p>
        </p:txBody>
      </p:sp>
      <p:sp>
        <p:nvSpPr>
          <p:cNvPr id="100017" name="M1body"/>
          <p:cNvSpPr txBox="1"/>
          <p:nvPr/>
        </p:nvSpPr>
        <p:spPr>
          <a:xfrm>
            <a:off x="540000" y="2016000"/>
            <a:ext cx="4860000" cy="18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1.  PRR Engine  —  Evans 2001 2×2 contingency table; signals at PRR ≥ 2, χ² ≥ 4, n ≥ 3</a:t>
            </a:r>
          </a:p>
          <a:p>
            <a:r>
              <a:rPr lang="en-US" sz="1400">
                <a:solidFill>
                  <a:srgbClr val="333333"/>
                </a:solidFill>
              </a:rPr>
              <a:t>2.  Signal Ranking  —  High / Medium / Low strength buckets</a:t>
            </a:r>
          </a:p>
          <a:p>
            <a:r>
              <a:rPr lang="en-US" sz="1400">
                <a:solidFill>
                  <a:srgbClr val="333333"/>
                </a:solidFill>
              </a:rPr>
              <a:t>3.  K-Means Clustering  —  4-feature AE report vectors, auto-labelled clusters</a:t>
            </a:r>
          </a:p>
          <a:p>
            <a:r>
              <a:rPr lang="en-US" sz="1400">
                <a:solidFill>
                  <a:srgbClr val="333333"/>
                </a:solidFill>
              </a:rPr>
              <a:t>4.  Explainability  —  plain-English per-signal narrative with Evans checklist</a:t>
            </a:r>
          </a:p>
        </p:txBody>
      </p:sp>
      <p:sp>
        <p:nvSpPr>
          <p:cNvPr id="100018" name="M2head"/>
          <p:cNvSpPr txBox="1"/>
          <p:nvPr/>
        </p:nvSpPr>
        <p:spPr>
          <a:xfrm>
            <a:off x="5940000" y="1620000"/>
            <a:ext cx="4860000" cy="324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1E3A5F"/>
                </a:solidFill>
              </a:rPr>
              <a:t>Module 2 — Submission Readiness</a:t>
            </a:r>
          </a:p>
        </p:txBody>
      </p:sp>
      <p:sp>
        <p:nvSpPr>
          <p:cNvPr id="100019" name="M2body"/>
          <p:cNvSpPr txBox="1"/>
          <p:nvPr/>
        </p:nvSpPr>
        <p:spPr>
          <a:xfrm>
            <a:off x="5940000" y="2016000"/>
            <a:ext cx="4860000" cy="18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1.  ICH M4 Schema  —  all 74 sections × 5 modules with severity classification</a:t>
            </a:r>
          </a:p>
          <a:p>
            <a:r>
              <a:rPr lang="en-US" sz="1400">
                <a:solidFill>
                  <a:srgbClr val="333333"/>
                </a:solidFill>
              </a:rPr>
              <a:t>2.  CTD Checker  —  per-module completeness score, gap list sorted Critical → Minor</a:t>
            </a:r>
          </a:p>
          <a:p>
            <a:r>
              <a:rPr lang="en-US" sz="1400">
                <a:solidFill>
                  <a:srgbClr val="333333"/>
                </a:solidFill>
              </a:rPr>
              <a:t>3.  Recommendation Engine  —  section-level, actionable gap remediation text</a:t>
            </a:r>
          </a:p>
          <a:p>
            <a:r>
              <a:rPr lang="en-US" sz="1400">
                <a:solidFill>
                  <a:srgbClr val="333333"/>
                </a:solidFill>
              </a:rPr>
              <a:t>4.  Score Gauges  —  SVG circular visualisation per module + overall</a:t>
            </a:r>
          </a:p>
        </p:txBody>
      </p:sp>
      <p:sp>
        <p:nvSpPr>
          <p:cNvPr id="100020" name="Metrics"/>
          <p:cNvSpPr txBox="1"/>
          <p:nvPr/>
        </p:nvSpPr>
        <p:spPr>
          <a:xfrm>
            <a:off x="540000" y="4140000"/>
            <a:ext cx="10080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 b="1">
                <a:solidFill>
                  <a:srgbClr val="2D6A9F"/>
                </a:solidFill>
              </a:rPr>
              <a:t>62 tests · 100% pass rate          500 synthetic AE reports · 6 drugs · 8+ signals detected          74 ICH M4 sections validated          &lt; 200 ms PRR endpoint</a:t>
            </a:r>
          </a:p>
        </p:txBody>
      </p:sp>
      <p:sp>
        <p:nvSpPr>
          <p:cNvPr id="100021" name="Stack"/>
          <p:cNvSpPr txBox="1"/>
          <p:nvPr/>
        </p:nvSpPr>
        <p:spPr>
          <a:xfrm>
            <a:off x="540000" y="4680000"/>
            <a:ext cx="10080000" cy="3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>
                <a:solidFill>
                  <a:srgbClr val="666666"/>
                </a:solidFill>
              </a:rPr>
              <a:t>React 18  ·  Vite 5  ·  Tailwind CSS  ·  Recharts      ↔      FastAPI  ·  Python 3.12  ·  scikit-learn  ·  Pydantic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" name="SlideNum"/>
          <p:cNvSpPr txBox="1"/>
          <p:nvPr/>
        </p:nvSpPr>
        <p:spPr>
          <a:xfrm>
            <a:off x="10800000" y="180000"/>
            <a:ext cx="720000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100">
                <a:solidFill>
                  <a:srgbClr val="A0AEC0"/>
                </a:solidFill>
              </a:rPr>
              <a:t>03</a:t>
            </a:r>
          </a:p>
        </p:txBody>
      </p:sp>
      <p:sp>
        <p:nvSpPr>
          <p:cNvPr id="100023" name="Accent"/>
          <p:cNvSpPr txBox="1"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US">
              <a:solidFill>
                <a:srgbClr val="1E3A5F"/>
              </a:solidFill>
            </a:endParaRPr>
          </a:p>
        </p:txBody>
      </p:sp>
      <p:sp>
        <p:nvSpPr>
          <p:cNvPr id="100024" name="Title"/>
          <p:cNvSpPr txBox="1"/>
          <p:nvPr/>
        </p:nvSpPr>
        <p:spPr>
          <a:xfrm>
            <a:off x="540000" y="360000"/>
            <a:ext cx="10080000" cy="648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E3A5F"/>
                </a:solidFill>
              </a:rPr>
              <a:t>Demo &amp; Architecture</a:t>
            </a:r>
          </a:p>
        </p:txBody>
      </p:sp>
      <p:sp>
        <p:nvSpPr>
          <p:cNvPr id="100025" name="ArchLabel"/>
          <p:cNvSpPr txBox="1"/>
          <p:nvPr/>
        </p:nvSpPr>
        <p:spPr>
          <a:xfrm>
            <a:off x="540000" y="1152000"/>
            <a:ext cx="10080000" cy="252000"/>
          </a:xfrm>
          <a:prstGeom prst="rect">
            <a:avLst/>
          </a:prstGeom>
        </p:spPr>
        <p:txBody>
          <a:bodyPr/>
          <a:lstStyle/>
          <a:p>
            <a:r>
              <a:rPr lang="en-US" sz="1100" b="1">
                <a:solidFill>
                  <a:srgbClr val="888888"/>
                </a:solidFill>
              </a:rPr>
              <a:t>SYSTEM ARCHITECTURE</a:t>
            </a:r>
          </a:p>
        </p:txBody>
      </p:sp>
      <p:sp>
        <p:nvSpPr>
          <p:cNvPr id="100026" name="ArchBox"/>
          <p:cNvSpPr txBox="1"/>
          <p:nvPr/>
        </p:nvSpPr>
        <p:spPr>
          <a:xfrm>
            <a:off x="540000" y="1512000"/>
            <a:ext cx="10080000" cy="2520000"/>
          </a:xfrm>
          <a:prstGeom prst="rect">
            <a:avLst/>
          </a:prstGeom>
          <a:solidFill>
            <a:srgbClr val="F0F4FA"/>
          </a:solidFill>
        </p:spPr>
        <p:txBody>
          <a:bodyPr/>
          <a:lstStyle/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Browser  :3000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│  HTTP /api/*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▼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Vite Dev Server  ──proxy──►  FastAPI  :8000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                      │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┌─────────────────────┼──────────────────────┐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▼                     ▼                      ▼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prr_engine       clustering_engine           ctd_checker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explainability_engine              recommendation_engine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│                     │                      │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└─────────────────────┼──────────────────────┘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                      ▼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             data/  (JSON files)</a:t>
            </a:r>
          </a:p>
          <a:p>
            <a:r>
              <a:rPr lang="en-US" sz="1300">
                <a:solidFill>
                  <a:srgbClr val="1E3A5F"/>
                </a:solidFill>
                <a:latin typeface="Courier New"/>
                <a:ea typeface="Courier New"/>
              </a:rPr>
              <a:t>                 adverse_events.json · drug_exposure.json · sample_dossier.json</a:t>
            </a:r>
          </a:p>
        </p:txBody>
      </p:sp>
      <p:sp>
        <p:nvSpPr>
          <p:cNvPr id="100027" name="HighlightsLabel"/>
          <p:cNvSpPr txBox="1"/>
          <p:nvPr/>
        </p:nvSpPr>
        <p:spPr>
          <a:xfrm>
            <a:off x="540000" y="4248000"/>
            <a:ext cx="10080000" cy="252000"/>
          </a:xfrm>
          <a:prstGeom prst="rect">
            <a:avLst/>
          </a:prstGeom>
        </p:spPr>
        <p:txBody>
          <a:bodyPr/>
          <a:lstStyle/>
          <a:p>
            <a:r>
              <a:rPr lang="en-US" sz="1100" b="1">
                <a:solidFill>
                  <a:srgbClr val="888888"/>
                </a:solidFill>
              </a:rPr>
              <a:t>KEY TECHNICAL HIGHLIGHTS</a:t>
            </a:r>
          </a:p>
        </p:txBody>
      </p:sp>
      <p:sp>
        <p:nvSpPr>
          <p:cNvPr id="100028" name="H1"/>
          <p:cNvSpPr txBox="1"/>
          <p:nvPr/>
        </p:nvSpPr>
        <p:spPr>
          <a:xfrm>
            <a:off x="540000" y="4572000"/>
            <a:ext cx="3060000" cy="1080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300">
                <a:solidFill>
                  <a:srgbClr val="333333"/>
                </a:solidFill>
              </a:rPr>
              <a:t>PRR 2×2 contingency table</a:t>
            </a:r>
          </a:p>
          <a:p>
            <a:r>
              <a:rPr lang="en-US" sz="1300">
                <a:solidFill>
                  <a:srgbClr val="333333"/>
                </a:solidFill>
              </a:rPr>
              <a:t>Evans 2001 signal criteria</a:t>
            </a:r>
          </a:p>
          <a:p>
            <a:r>
              <a:rPr lang="en-US" sz="1300">
                <a:solidFill>
                  <a:srgbClr val="333333"/>
                </a:solidFill>
              </a:rPr>
              <a:t>per-pair chi-squared test</a:t>
            </a:r>
          </a:p>
        </p:txBody>
      </p:sp>
      <p:sp>
        <p:nvSpPr>
          <p:cNvPr id="100029" name="H2"/>
          <p:cNvSpPr txBox="1"/>
          <p:nvPr/>
        </p:nvSpPr>
        <p:spPr>
          <a:xfrm>
            <a:off x="3960000" y="4572000"/>
            <a:ext cx="3060000" cy="1080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300">
                <a:solidFill>
                  <a:srgbClr val="333333"/>
                </a:solidFill>
              </a:rPr>
              <a:t>4-feature K-Means clustering</a:t>
            </a:r>
          </a:p>
          <a:p>
            <a:r>
              <a:rPr lang="en-US" sz="1300">
                <a:solidFill>
                  <a:srgbClr val="333333"/>
                </a:solidFill>
              </a:rPr>
              <a:t>auto-labelled cluster cards</a:t>
            </a:r>
          </a:p>
          <a:p>
            <a:r>
              <a:rPr lang="en-US" sz="1300">
                <a:solidFill>
                  <a:srgbClr val="333333"/>
                </a:solidFill>
              </a:rPr>
              <a:t>SOC + severity + sex vectors</a:t>
            </a:r>
          </a:p>
        </p:txBody>
      </p:sp>
      <p:sp>
        <p:nvSpPr>
          <p:cNvPr id="100030" name="H3"/>
          <p:cNvSpPr txBox="1"/>
          <p:nvPr/>
        </p:nvSpPr>
        <p:spPr>
          <a:xfrm>
            <a:off x="7380000" y="4572000"/>
            <a:ext cx="3240000" cy="1080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300">
                <a:solidFill>
                  <a:srgbClr val="333333"/>
                </a:solidFill>
              </a:rPr>
              <a:t>74-section ICH M4 schema</a:t>
            </a:r>
          </a:p>
          <a:p>
            <a:r>
              <a:rPr lang="en-US" sz="1300">
                <a:solidFill>
                  <a:srgbClr val="333333"/>
                </a:solidFill>
              </a:rPr>
              <a:t>Critical/Major/Minor severity</a:t>
            </a:r>
          </a:p>
          <a:p>
            <a:r>
              <a:rPr lang="en-US" sz="1300">
                <a:solidFill>
                  <a:srgbClr val="333333"/>
                </a:solidFill>
              </a:rPr>
              <a:t>per-module score gauges (SVG)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" name="SlideNum"/>
          <p:cNvSpPr txBox="1"/>
          <p:nvPr/>
        </p:nvSpPr>
        <p:spPr>
          <a:xfrm>
            <a:off x="10800000" y="180000"/>
            <a:ext cx="720000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100">
                <a:solidFill>
                  <a:srgbClr val="A0AEC0"/>
                </a:solidFill>
              </a:rPr>
              <a:t>04</a:t>
            </a:r>
          </a:p>
        </p:txBody>
      </p:sp>
      <p:sp>
        <p:nvSpPr>
          <p:cNvPr id="100032" name="Accent"/>
          <p:cNvSpPr txBox="1"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US">
              <a:solidFill>
                <a:srgbClr val="1E3A5F"/>
              </a:solidFill>
            </a:endParaRPr>
          </a:p>
        </p:txBody>
      </p:sp>
      <p:sp>
        <p:nvSpPr>
          <p:cNvPr id="100033" name="Title"/>
          <p:cNvSpPr txBox="1"/>
          <p:nvPr/>
        </p:nvSpPr>
        <p:spPr>
          <a:xfrm>
            <a:off x="540000" y="360000"/>
            <a:ext cx="10080000" cy="648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E3A5F"/>
                </a:solidFill>
              </a:rPr>
              <a:t>IBM Technology Integration</a:t>
            </a:r>
          </a:p>
        </p:txBody>
      </p:sp>
      <p:sp>
        <p:nvSpPr>
          <p:cNvPr id="100034" name="Lead"/>
          <p:cNvSpPr txBox="1"/>
          <p:nvPr/>
        </p:nvSpPr>
        <p:spPr>
          <a:xfrm>
            <a:off x="540000" y="1152000"/>
            <a:ext cx="10080000" cy="324000"/>
          </a:xfrm>
          <a:prstGeom prst="rect">
            <a:avLst/>
          </a:prstGeom>
        </p:spPr>
        <p:txBody>
          <a:bodyPr/>
          <a:lstStyle/>
          <a:p>
            <a:r>
              <a:rPr lang="en-US" sz="1700" b="1">
                <a:solidFill>
                  <a:srgbClr val="2D6A9F"/>
                </a:solidFill>
              </a:rPr>
              <a:t>IBM Bob was the primary development partner for every artefact in this project.</a:t>
            </a:r>
          </a:p>
        </p:txBody>
      </p:sp>
      <p:sp>
        <p:nvSpPr>
          <p:cNvPr id="100035" name="Col1head"/>
          <p:cNvSpPr txBox="1"/>
          <p:nvPr/>
        </p:nvSpPr>
        <p:spPr>
          <a:xfrm>
            <a:off x="540000" y="1584000"/>
            <a:ext cx="4860000" cy="288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1E3A5F"/>
                </a:solidFill>
              </a:rPr>
              <a:t>What Bob Built</a:t>
            </a:r>
          </a:p>
        </p:txBody>
      </p:sp>
      <p:sp>
        <p:nvSpPr>
          <p:cNvPr id="100036" name="Col1body"/>
          <p:cNvSpPr txBox="1"/>
          <p:nvPr/>
        </p:nvSpPr>
        <p:spPr>
          <a:xfrm>
            <a:off x="540000" y="1944000"/>
            <a:ext cx="4860000" cy="288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Architecture blueprint &amp; folder structure</a:t>
            </a:r>
          </a:p>
          <a:p>
            <a:r>
              <a:rPr lang="en-US" sz="1400">
                <a:solidFill>
                  <a:srgbClr val="333333"/>
                </a:solidFill>
              </a:rPr>
              <a:t>All 5 analytical engine Python files</a:t>
            </a:r>
          </a:p>
          <a:p>
            <a:r>
              <a:rPr lang="en-US" sz="1400">
                <a:solidFill>
                  <a:srgbClr val="333333"/>
                </a:solidFill>
              </a:rPr>
              <a:t>Full ICH M4 schema (74 sections)</a:t>
            </a:r>
          </a:p>
          <a:p>
            <a:r>
              <a:rPr lang="en-US" sz="1400">
                <a:solidFill>
                  <a:srgbClr val="333333"/>
                </a:solidFill>
              </a:rPr>
              <a:t>62 unit + regression tests (100% pass)</a:t>
            </a:r>
          </a:p>
          <a:p>
            <a:r>
              <a:rPr lang="en-US" sz="1400">
                <a:solidFill>
                  <a:srgbClr val="333333"/>
                </a:solidFill>
              </a:rPr>
              <a:t>All 12 React frontend components</a:t>
            </a:r>
          </a:p>
          <a:p>
            <a:r>
              <a:rPr lang="en-US" sz="1400">
                <a:solidFill>
                  <a:srgbClr val="333333"/>
                </a:solidFill>
              </a:rPr>
              <a:t>FastAPI routers &amp; Pydantic models</a:t>
            </a:r>
          </a:p>
          <a:p>
            <a:r>
              <a:rPr lang="en-US" sz="1400">
                <a:solidFill>
                  <a:srgbClr val="333333"/>
                </a:solidFill>
              </a:rPr>
              <a:t>Axios API client layer</a:t>
            </a:r>
          </a:p>
          <a:p>
            <a:r>
              <a:rPr lang="en-US" sz="1400">
                <a:solidFill>
                  <a:srgbClr val="333333"/>
                </a:solidFill>
              </a:rPr>
              <a:t>This README, docs &amp; submission YAML</a:t>
            </a:r>
          </a:p>
        </p:txBody>
      </p:sp>
      <p:sp>
        <p:nvSpPr>
          <p:cNvPr id="100037" name="Col2head"/>
          <p:cNvSpPr txBox="1"/>
          <p:nvPr/>
        </p:nvSpPr>
        <p:spPr>
          <a:xfrm>
            <a:off x="5940000" y="1584000"/>
            <a:ext cx="4860000" cy="288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1E3A5F"/>
                </a:solidFill>
              </a:rPr>
              <a:t>How Bob Was Used</a:t>
            </a:r>
          </a:p>
        </p:txBody>
      </p:sp>
      <p:sp>
        <p:nvSpPr>
          <p:cNvPr id="100038" name="Col2body"/>
          <p:cNvSpPr txBox="1"/>
          <p:nvPr/>
        </p:nvSpPr>
        <p:spPr>
          <a:xfrm>
            <a:off x="5940000" y="1944000"/>
            <a:ext cx="4860000" cy="288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Interactive, iterative chat sessions</a:t>
            </a:r>
          </a:p>
          <a:p>
            <a:r>
              <a:rPr lang="en-US" sz="1400">
                <a:solidFill>
                  <a:srgbClr val="333333"/>
                </a:solidFill>
              </a:rPr>
              <a:t>Prompt → review → refine loop for each engine</a:t>
            </a:r>
          </a:p>
          <a:p>
            <a:r>
              <a:rPr lang="en-US" sz="1400">
                <a:solidFill>
                  <a:srgbClr val="333333"/>
                </a:solidFill>
              </a:rPr>
              <a:t>Bob performed code review on its own output</a:t>
            </a:r>
          </a:p>
          <a:p>
            <a:r>
              <a:rPr lang="en-US" sz="1400">
                <a:solidFill>
                  <a:srgbClr val="333333"/>
                </a:solidFill>
              </a:rPr>
              <a:t>  — checked edge cases, zero-denominators,</a:t>
            </a:r>
          </a:p>
          <a:p>
            <a:r>
              <a:rPr lang="en-US" sz="1400">
                <a:solidFill>
                  <a:srgbClr val="333333"/>
                </a:solidFill>
              </a:rPr>
              <a:t>     return-type consistency</a:t>
            </a:r>
          </a:p>
          <a:p>
            <a:r>
              <a:rPr lang="en-US" sz="1400">
                <a:solidFill>
                  <a:srgbClr val="333333"/>
                </a:solidFill>
              </a:rPr>
              <a:t>Bob authored all test assertions, not just stubs</a:t>
            </a:r>
          </a:p>
          <a:p>
            <a:r>
              <a:rPr lang="en-US" sz="1400">
                <a:solidFill>
                  <a:srgbClr val="333333"/>
                </a:solidFill>
              </a:rPr>
              <a:t>Bob wired engines into routers as each</a:t>
            </a:r>
          </a:p>
          <a:p>
            <a:r>
              <a:rPr lang="en-US" sz="1400">
                <a:solidFill>
                  <a:srgbClr val="333333"/>
                </a:solidFill>
              </a:rPr>
              <a:t>  phase completed (replacing stubs live)</a:t>
            </a:r>
          </a:p>
          <a:p>
            <a:r>
              <a:rPr lang="en-US" sz="1400">
                <a:solidFill>
                  <a:srgbClr val="333333"/>
                </a:solidFill>
              </a:rPr>
              <a:t>All documentation written by Bob</a:t>
            </a:r>
          </a:p>
        </p:txBody>
      </p:sp>
      <p:sp>
        <p:nvSpPr>
          <p:cNvPr id="100039" name="Quote"/>
          <p:cNvSpPr txBox="1"/>
          <p:nvPr/>
        </p:nvSpPr>
        <p:spPr>
          <a:xfrm>
            <a:off x="540000" y="5112000"/>
            <a:ext cx="1008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 b="1">
                <a:solidFill>
                  <a:srgbClr val="1E3A5F"/>
                </a:solidFill>
              </a:rPr>
              <a:t>"IBM Bob didn't assist — it co-engineered.  Every line of production code, every test, and every doc was produced in conversation with Bob."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0" name="SlideNum"/>
          <p:cNvSpPr txBox="1"/>
          <p:nvPr/>
        </p:nvSpPr>
        <p:spPr>
          <a:xfrm>
            <a:off x="10800000" y="180000"/>
            <a:ext cx="720000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100">
                <a:solidFill>
                  <a:srgbClr val="A0AEC0"/>
                </a:solidFill>
              </a:rPr>
              <a:t>05</a:t>
            </a:r>
          </a:p>
        </p:txBody>
      </p:sp>
      <p:sp>
        <p:nvSpPr>
          <p:cNvPr id="100041" name="Accent"/>
          <p:cNvSpPr txBox="1"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US">
              <a:solidFill>
                <a:srgbClr val="1E3A5F"/>
              </a:solidFill>
            </a:endParaRPr>
          </a:p>
        </p:txBody>
      </p:sp>
      <p:sp>
        <p:nvSpPr>
          <p:cNvPr id="100042" name="Title"/>
          <p:cNvSpPr txBox="1"/>
          <p:nvPr/>
        </p:nvSpPr>
        <p:spPr>
          <a:xfrm>
            <a:off x="540000" y="360000"/>
            <a:ext cx="10080000" cy="648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E3A5F"/>
                </a:solidFill>
              </a:rPr>
              <a:t>Impact — Beyond the Hackathon</a:t>
            </a:r>
          </a:p>
        </p:txBody>
      </p:sp>
      <p:sp>
        <p:nvSpPr>
          <p:cNvPr id="100043" name="Today"/>
          <p:cNvSpPr txBox="1"/>
          <p:nvPr/>
        </p:nvSpPr>
        <p:spPr>
          <a:xfrm>
            <a:off x="540000" y="1152000"/>
            <a:ext cx="306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888888"/>
                </a:solidFill>
              </a:rPr>
              <a:t>TODAY (Prototype)</a:t>
            </a:r>
          </a:p>
        </p:txBody>
      </p:sp>
      <p:sp>
        <p:nvSpPr>
          <p:cNvPr id="100044" name="TodayBody"/>
          <p:cNvSpPr txBox="1"/>
          <p:nvPr/>
        </p:nvSpPr>
        <p:spPr>
          <a:xfrm>
            <a:off x="540000" y="1512000"/>
            <a:ext cx="3060000" cy="1800000"/>
          </a:xfrm>
          <a:prstGeom prst="rect">
            <a:avLst/>
          </a:prstGeom>
          <a:solidFill>
            <a:srgbClr val="F0F4FA"/>
          </a:solidFill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500 synthetic AE reports</a:t>
            </a:r>
          </a:p>
          <a:p>
            <a:r>
              <a:rPr lang="en-US" sz="1400">
                <a:solidFill>
                  <a:srgbClr val="333333"/>
                </a:solidFill>
              </a:rPr>
              <a:t>6 drugs  ·  8+ signals</a:t>
            </a:r>
          </a:p>
          <a:p>
            <a:r>
              <a:rPr lang="en-US" sz="1400">
                <a:solidFill>
                  <a:srgbClr val="333333"/>
                </a:solidFill>
              </a:rPr>
              <a:t>74 ICH M4 sections</a:t>
            </a:r>
          </a:p>
          <a:p>
            <a:r>
              <a:rPr lang="en-US" sz="1400">
                <a:solidFill>
                  <a:srgbClr val="333333"/>
                </a:solidFill>
              </a:rPr>
              <a:t>Local JSON data layer</a:t>
            </a:r>
          </a:p>
          <a:p>
            <a:r>
              <a:rPr lang="en-US" sz="1400">
                <a:solidFill>
                  <a:srgbClr val="333333"/>
                </a:solidFill>
              </a:rPr>
              <a:t>Full-stack running prototype</a:t>
            </a:r>
          </a:p>
        </p:txBody>
      </p:sp>
      <p:sp>
        <p:nvSpPr>
          <p:cNvPr id="100045" name="Arrow"/>
          <p:cNvSpPr txBox="1"/>
          <p:nvPr/>
        </p:nvSpPr>
        <p:spPr>
          <a:xfrm>
            <a:off x="3780000" y="2160000"/>
            <a:ext cx="72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>
                <a:solidFill>
                  <a:srgbClr val="2D6A9F"/>
                </a:solidFill>
              </a:rPr>
              <a:t>→</a:t>
            </a:r>
          </a:p>
        </p:txBody>
      </p:sp>
      <p:sp>
        <p:nvSpPr>
          <p:cNvPr id="100046" name="Near"/>
          <p:cNvSpPr txBox="1"/>
          <p:nvPr/>
        </p:nvSpPr>
        <p:spPr>
          <a:xfrm>
            <a:off x="4680000" y="1152000"/>
            <a:ext cx="288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888888"/>
                </a:solidFill>
              </a:rPr>
              <a:t>NEAR-TERM  (6 months)</a:t>
            </a:r>
          </a:p>
        </p:txBody>
      </p:sp>
      <p:sp>
        <p:nvSpPr>
          <p:cNvPr id="100047" name="NearBody"/>
          <p:cNvSpPr txBox="1"/>
          <p:nvPr/>
        </p:nvSpPr>
        <p:spPr>
          <a:xfrm>
            <a:off x="4680000" y="1512000"/>
            <a:ext cx="2880000" cy="1800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Live FAERS / EudraVigilance feed</a:t>
            </a:r>
          </a:p>
          <a:p>
            <a:r>
              <a:rPr lang="en-US" sz="1400">
                <a:solidFill>
                  <a:srgbClr val="333333"/>
                </a:solidFill>
              </a:rPr>
              <a:t>Multi-drug concurrent analysis</a:t>
            </a:r>
          </a:p>
          <a:p>
            <a:r>
              <a:rPr lang="en-US" sz="1400">
                <a:solidFill>
                  <a:srgbClr val="333333"/>
                </a:solidFill>
              </a:rPr>
              <a:t>User-uploaded CTD dossier (PDF parse)</a:t>
            </a:r>
          </a:p>
          <a:p>
            <a:r>
              <a:rPr lang="en-US" sz="1400">
                <a:solidFill>
                  <a:srgbClr val="333333"/>
                </a:solidFill>
              </a:rPr>
              <a:t>watsonx.ai narrative generation</a:t>
            </a:r>
          </a:p>
          <a:p>
            <a:r>
              <a:rPr lang="en-US" sz="1400">
                <a:solidFill>
                  <a:srgbClr val="333333"/>
                </a:solidFill>
              </a:rPr>
              <a:t>Role-based access + audit trail</a:t>
            </a:r>
          </a:p>
        </p:txBody>
      </p:sp>
      <p:sp>
        <p:nvSpPr>
          <p:cNvPr id="100048" name="Arrow2"/>
          <p:cNvSpPr txBox="1"/>
          <p:nvPr/>
        </p:nvSpPr>
        <p:spPr>
          <a:xfrm>
            <a:off x="7740000" y="2160000"/>
            <a:ext cx="72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>
                <a:solidFill>
                  <a:srgbClr val="2D6A9F"/>
                </a:solidFill>
              </a:rPr>
              <a:t>→</a:t>
            </a:r>
          </a:p>
        </p:txBody>
      </p:sp>
      <p:sp>
        <p:nvSpPr>
          <p:cNvPr id="100049" name="Vision"/>
          <p:cNvSpPr txBox="1"/>
          <p:nvPr/>
        </p:nvSpPr>
        <p:spPr>
          <a:xfrm>
            <a:off x="8640000" y="1152000"/>
            <a:ext cx="2700000" cy="288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888888"/>
                </a:solidFill>
              </a:rPr>
              <a:t>VISION  (2 years)</a:t>
            </a:r>
          </a:p>
        </p:txBody>
      </p:sp>
      <p:sp>
        <p:nvSpPr>
          <p:cNvPr id="100050" name="VisionBody"/>
          <p:cNvSpPr txBox="1"/>
          <p:nvPr/>
        </p:nvSpPr>
        <p:spPr>
          <a:xfrm>
            <a:off x="8640000" y="1512000"/>
            <a:ext cx="2700000" cy="1800000"/>
          </a:xfrm>
          <a:prstGeom prst="rect">
            <a:avLst/>
          </a:prstGeom>
          <a:solidFill>
            <a:srgbClr val="E8F8F0"/>
          </a:solidFill>
        </p:spPr>
        <p:txBody>
          <a:bodyPr/>
          <a:lstStyle/>
          <a:p>
            <a:r>
              <a:rPr lang="en-US" sz="1400">
                <a:solidFill>
                  <a:srgbClr val="333333"/>
                </a:solidFill>
              </a:rPr>
              <a:t>SaaS platform for mid-size pharma</a:t>
            </a:r>
          </a:p>
          <a:p>
            <a:r>
              <a:rPr lang="en-US" sz="1400">
                <a:solidFill>
                  <a:srgbClr val="333333"/>
                </a:solidFill>
              </a:rPr>
              <a:t>Regulator-ready PDF signal reports</a:t>
            </a:r>
          </a:p>
          <a:p>
            <a:r>
              <a:rPr lang="en-US" sz="1400">
                <a:solidFill>
                  <a:srgbClr val="333333"/>
                </a:solidFill>
              </a:rPr>
              <a:t>Continuous monitoring + auto-alerts</a:t>
            </a:r>
          </a:p>
          <a:p>
            <a:r>
              <a:rPr lang="en-US" sz="1400">
                <a:solidFill>
                  <a:srgbClr val="333333"/>
                </a:solidFill>
              </a:rPr>
              <a:t>watsonx Governance for explainability</a:t>
            </a:r>
          </a:p>
          <a:p>
            <a:r>
              <a:rPr lang="en-US" sz="1400">
                <a:solidFill>
                  <a:srgbClr val="333333"/>
                </a:solidFill>
              </a:rPr>
              <a:t>Global database connectors (PMDA, TGA)</a:t>
            </a:r>
          </a:p>
        </p:txBody>
      </p:sp>
      <p:sp>
        <p:nvSpPr>
          <p:cNvPr id="100051" name="Market"/>
          <p:cNvSpPr txBox="1"/>
          <p:nvPr/>
        </p:nvSpPr>
        <p:spPr>
          <a:xfrm>
            <a:off x="540000" y="3600000"/>
            <a:ext cx="100800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 b="1">
                <a:solidFill>
                  <a:srgbClr val="2D6A9F"/>
                </a:solidFill>
              </a:rPr>
              <a:t>Global pharmacovigilance software market:  $1.2B  →  $2.9B by 2030  (CAGR 13%)</a:t>
            </a:r>
          </a:p>
        </p:txBody>
      </p:sp>
      <p:sp>
        <p:nvSpPr>
          <p:cNvPr id="100052" name="Pillars"/>
          <p:cNvSpPr txBox="1"/>
          <p:nvPr/>
        </p:nvSpPr>
        <p:spPr>
          <a:xfrm>
            <a:off x="540000" y="4032000"/>
            <a:ext cx="1008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>
                <a:solidFill>
                  <a:srgbClr val="333333"/>
                </a:solidFill>
              </a:rPr>
              <a:t>Reduce signal review time by 60%  ·  Eliminate late-stage CTD gaps  ·  Cut submission rework cost  ·  Make pharmacovigilance accessible to smaller sponsors</a:t>
            </a:r>
          </a:p>
        </p:txBody>
      </p:sp>
      <p:sp>
        <p:nvSpPr>
          <p:cNvPr id="100053" name="IBMfit"/>
          <p:cNvSpPr txBox="1"/>
          <p:nvPr/>
        </p:nvSpPr>
        <p:spPr>
          <a:xfrm>
            <a:off x="540000" y="4752000"/>
            <a:ext cx="10080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 b="1">
                <a:solidFill>
                  <a:srgbClr val="1E3A5F"/>
                </a:solidFill>
              </a:rPr>
              <a:t>Natural fit for IBM watsonx.ai (narrative generation), IBM watsonx.governance (auditability), and IBM Cloud (enterprise deployment)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4" name="Title"/>
          <p:cNvSpPr txBox="1"/>
          <p:nvPr/>
        </p:nvSpPr>
        <p:spPr>
          <a:xfrm>
            <a:off x="720000" y="1980000"/>
            <a:ext cx="1044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>PharmaGuard AI</a:t>
            </a:r>
          </a:p>
        </p:txBody>
      </p:sp>
      <p:sp>
        <p:nvSpPr>
          <p:cNvPr id="100055" name="Sub"/>
          <p:cNvSpPr txBox="1"/>
          <p:nvPr/>
        </p:nvSpPr>
        <p:spPr>
          <a:xfrm>
            <a:off x="720000" y="3420000"/>
            <a:ext cx="1044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200">
                <a:solidFill>
                  <a:srgbClr val="A8C8F0"/>
                </a:solidFill>
              </a:rPr>
              <a:t>Smarter pharmacovigilance, from signal to submission.</a:t>
            </a:r>
          </a:p>
        </p:txBody>
      </p:sp>
      <p:sp>
        <p:nvSpPr>
          <p:cNvPr id="100056" name="Links"/>
          <p:cNvSpPr txBox="1"/>
          <p:nvPr/>
        </p:nvSpPr>
        <p:spPr>
          <a:xfrm>
            <a:off x="720000" y="4500000"/>
            <a:ext cx="10440000" cy="9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500">
                <a:solidFill>
                  <a:srgbClr val="7FADD4"/>
                </a:solidFill>
              </a:rPr>
              <a:t>Backend: FastAPI · http://localhost:8000/docs</a:t>
            </a:r>
          </a:p>
          <a:p>
            <a:pPr algn="ctr"/>
            <a:r>
              <a:rPr lang="en-US" sz="1500">
                <a:solidFill>
                  <a:srgbClr val="7FADD4"/>
                </a:solidFill>
              </a:rPr>
              <a:t>Frontend: React · http://localhost:3000</a:t>
            </a:r>
          </a:p>
          <a:p>
            <a:pPr algn="ctr"/>
            <a:r>
              <a:rPr lang="en-US" sz="1500">
                <a:solidFill>
                  <a:srgbClr val="7FADD4"/>
                </a:solidFill>
              </a:rPr>
              <a:t>Test suite: 62 tests · 100% pass rate</a:t>
            </a:r>
          </a:p>
        </p:txBody>
      </p:sp>
      <p:sp>
        <p:nvSpPr>
          <p:cNvPr id="100057" name="Disclaimer"/>
          <p:cNvSpPr txBox="1"/>
          <p:nvPr/>
        </p:nvSpPr>
        <p:spPr>
          <a:xfrm>
            <a:off x="720000" y="5760000"/>
            <a:ext cx="1044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100">
                <a:solidFill>
                  <a:srgbClr val="7FADD4"/>
                </a:solidFill>
              </a:rPr>
              <a:t>All adverse-event data is entirely synthetic and was generated for demonstration purposes only. Not for clinical, regulatory, or diagnostic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1260</Words>
  <Application>Microsoft Office PowerPoint</Application>
  <PresentationFormat>Widescreen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parva jadav</cp:lastModifiedBy>
  <cp:revision>1</cp:revision>
  <dcterms:created xsi:type="dcterms:W3CDTF">2026-09-15T16:12:49Z</dcterms:created>
  <dcterms:modified xsi:type="dcterms:W3CDTF">2026-09-15T16:17:05Z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1.0.144</vt:lpwstr>
  </property>
  <property fmtid="{D5CDD505-2E9C-101B-9397-08002B2CF9AE}" pid="3" name="OfficeCLI.LastModified">
    <vt:lpwstr>2026-09-15T16:12:51Z</vt:lpwstr>
  </property>
</Properties>
</file>